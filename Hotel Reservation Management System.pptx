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0" r:id="rId10"/>
    <p:sldId id="265" r:id="rId11"/>
    <p:sldId id="269" r:id="rId12"/>
    <p:sldId id="289" r:id="rId13"/>
    <p:sldId id="316" r:id="rId14"/>
    <p:sldId id="317" r:id="rId15"/>
    <p:sldId id="318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291" r:id="rId24"/>
    <p:sldId id="292" r:id="rId25"/>
    <p:sldId id="302" r:id="rId26"/>
    <p:sldId id="303" r:id="rId27"/>
    <p:sldId id="304" r:id="rId28"/>
    <p:sldId id="319" r:id="rId29"/>
    <p:sldId id="320" r:id="rId30"/>
    <p:sldId id="321" r:id="rId31"/>
    <p:sldId id="322" r:id="rId32"/>
    <p:sldId id="323" r:id="rId33"/>
    <p:sldId id="324" r:id="rId34"/>
    <p:sldId id="271" r:id="rId35"/>
    <p:sldId id="2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F54A1-BCFD-4FE4-BBA1-A77FD12FFAC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D9096-4C87-4CAA-AF3E-5A8E2CE3C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4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88A0C-B1C0-0654-5E84-AD2E7D9A0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0A3AA-9208-ADBA-B018-E37C704CB8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E71A6-495B-4578-6518-CEA0AC7B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8E55B-7325-5144-D681-BC8673F7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F4A39-7748-4966-F60C-0D0BC665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6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E53E-1245-B1E3-7963-FC14DCB0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B3F8-3D79-DE2B-5E7A-DD025650B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3BC5A-4908-2C15-03C1-85EEF70F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012F3-49D8-0491-6619-20DA89F1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607EC-A01C-B784-A37E-B31CCEB2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60904-1ACA-7466-BE58-13E5DF457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9A898-CDC9-5676-D349-CD156381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EA0A1-9ED3-A159-8534-56337DE8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53D1F-AAEB-0A50-DD3B-F99248CE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803A8-A15D-F72A-4782-725640C8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0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0EE55-F0B4-5098-35D3-366812F12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1617A-6D16-4B50-56A6-C6CAF4BDA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499D5-896A-3870-9A12-09F1B06F3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29509-C481-5D52-A0AD-32FA8B2F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E8243-4580-6926-FCDD-7A55E4EB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3AB65-CD3E-1638-39A7-197314E6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9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3106-9917-2A72-2A07-B26B2BEB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1B4B7-EF5F-05D1-E9F4-12424FDDF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19399-024A-DD4D-D614-BDBB18B92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9F293B-147E-4AFB-255A-31B5B656D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9E6D46-05BB-3FA8-17D6-E7A0637DE4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DF8A3B-2355-44D2-0BBF-9FC436062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E2556-9201-55F2-5444-C5688DE6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F6660E-B535-0041-F1CF-56BBE789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36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0D57-4F20-7EDE-5E62-4DEBDCE0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D1920D-F41E-15A4-24D7-ED7AF090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BE40D0-157A-B8CF-95B4-0BC946FD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95C27-7264-13AA-FDCD-6C947ED5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9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8043C-E1F7-2A18-9DB7-A36E3C14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9E3FC-4A3C-57C8-BBF9-85ACA9A4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82ED3-9862-118E-63E6-3602C655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6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2A00-472B-5885-B0E9-F900F6D4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6FDA8-892D-2F50-C640-EE8376C5E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D378F-2305-44B4-DF5D-58FD6AFC1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BEB08-D721-3CF7-C46D-E5968B47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CB7A9-045F-A537-BCA6-F3C76F8D6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8D7A0-FB91-47B3-196A-B536A5F5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5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CE5A-2A03-BEF3-6A4A-C98A8F6B1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1ADF8-8A7C-8487-65F8-AA0258B77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ED04C-DA07-CCBB-49B9-74BFEA74C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F45B-CC6B-EEEF-EEDD-F6FB6702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748E1-E7B2-6E65-85C3-61758315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B284C-B7E8-2378-8BA3-76B7018A0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1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460E-2394-DF8C-AEDD-BBC5E704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530B8-D327-614E-9850-F184C53CF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3BC76-4C13-E948-5EBC-15E8A9B9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0B0C8-0C0A-4ADB-1478-49ED13DC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8CC38-138D-1C28-2E56-F5828553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8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767324-3426-566B-B708-0F2DABD05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823DD-91F6-FB48-57F2-ECD1A3C16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77C41-0DEF-1F7D-6197-42155B3F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4C40A-D600-DFFE-0A4C-F40BBE5F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5DB06-B466-F55E-14EC-DD94FA75B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8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B22910-1E25-03B1-5E5B-557EDF81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C6090-8BF7-9266-D5CD-17815D749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D214D-ABB9-FCB1-3B86-00FF5D2D9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BDE4E-5E03-4F1D-BC91-72E63FC6D2A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841E6-DB73-486D-9818-8E277CA6A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6C63C-4622-2A64-B995-A2EB56CAA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C7CA4-65B3-4571-88BE-F1FE3ACE3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38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5C1ED7-2A4C-E48C-CF34-13A78EB08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19" y="518066"/>
            <a:ext cx="7712108" cy="1082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65A3B0-EBC2-851B-58EC-6374A5B41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0091" y="613209"/>
            <a:ext cx="9144000" cy="337834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Hotel Reservation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E02F7-EACE-6340-0CF3-36A37C25F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6073" y="4684172"/>
            <a:ext cx="5106441" cy="1655762"/>
          </a:xfrm>
        </p:spPr>
        <p:txBody>
          <a:bodyPr>
            <a:normAutofit/>
          </a:bodyPr>
          <a:lstStyle/>
          <a:p>
            <a:r>
              <a:rPr lang="en-US" sz="1600" dirty="0"/>
              <a:t>                                </a:t>
            </a:r>
            <a:r>
              <a:rPr lang="en-US" sz="16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G.Keerthi</a:t>
            </a:r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Harshana:25B11CS269</a:t>
            </a:r>
          </a:p>
          <a:p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T.Radhika:25B11CS945</a:t>
            </a:r>
          </a:p>
          <a:p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</a:t>
            </a:r>
            <a:r>
              <a:rPr lang="en-US" sz="16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T.Lakshmi</a:t>
            </a:r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Sowjanya:26B21CS070</a:t>
            </a:r>
          </a:p>
          <a:p>
            <a:r>
              <a:rPr lang="en-US" sz="1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R.Pavithra:25B11CS804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3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9773-80D8-5041-14B0-1BF4CCBD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430" y="365125"/>
            <a:ext cx="7187317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94E0F-037B-F31F-EB36-B88F882BF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452" y="1944894"/>
            <a:ext cx="9915277" cy="2905402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A hotel reservation management system helps customers book rooms easily and efficiently. </a:t>
            </a:r>
          </a:p>
          <a:p>
            <a:pPr lvl="0"/>
            <a:r>
              <a:rPr lang="en-US" sz="2000" dirty="0"/>
              <a:t>It allows users to check room availability and select suitable rooms. </a:t>
            </a:r>
          </a:p>
          <a:p>
            <a:pPr lvl="0"/>
            <a:r>
              <a:rPr lang="en-US" sz="2000" dirty="0"/>
              <a:t>The system stores customer and reservation details securely. </a:t>
            </a:r>
          </a:p>
          <a:p>
            <a:pPr lvl="0"/>
            <a:r>
              <a:rPr lang="en-US" sz="2000" dirty="0"/>
              <a:t>It reduces manual work and minimizes booking errors. </a:t>
            </a:r>
          </a:p>
          <a:p>
            <a:pPr lvl="0"/>
            <a:r>
              <a:rPr lang="en-US" sz="2000" dirty="0"/>
              <a:t>It provides an organized way to manage bookings, cancellations, and customer information. 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84019F-BEF4-7C98-C030-FA47D3BC5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293819" cy="102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6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02239D2-A05D-4A1C-9F06-FBA7FC730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0F104A-CE91-D1B7-2605-357CF7FE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4" y="538956"/>
            <a:ext cx="9501809" cy="1118394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      Problem Statement</a:t>
            </a:r>
          </a:p>
        </p:txBody>
      </p:sp>
      <p:pic>
        <p:nvPicPr>
          <p:cNvPr id="9" name="Graphic 8" descr="Bed">
            <a:extLst>
              <a:ext uri="{FF2B5EF4-FFF2-40B4-BE49-F238E27FC236}">
                <a16:creationId xmlns:a16="http://schemas.microsoft.com/office/drawing/2014/main" id="{A981B44E-F4DF-ECF1-8539-EED528CA59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" y="538956"/>
            <a:ext cx="749300" cy="7493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37722-2966-06D7-3871-C54DA54E0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650" y="1847849"/>
            <a:ext cx="9994900" cy="4254501"/>
          </a:xfrm>
        </p:spPr>
        <p:txBody>
          <a:bodyPr>
            <a:normAutofit/>
          </a:bodyPr>
          <a:lstStyle/>
          <a:p>
            <a:r>
              <a:rPr lang="en-US" sz="2000" dirty="0"/>
              <a:t>Manual hotel bookings are time-consuming and error-prone. </a:t>
            </a:r>
          </a:p>
          <a:p>
            <a:r>
              <a:rPr lang="en-US" sz="2000" dirty="0"/>
              <a:t>Checking room availability manually is difficult. </a:t>
            </a:r>
          </a:p>
          <a:p>
            <a:r>
              <a:rPr lang="en-US" sz="2000" dirty="0"/>
              <a:t>Managing customer and booking details can be inefficient. </a:t>
            </a:r>
          </a:p>
          <a:p>
            <a:r>
              <a:rPr lang="en-US" sz="2000" dirty="0"/>
              <a:t>Booking conflicts may occur due to poor record management. </a:t>
            </a:r>
          </a:p>
          <a:p>
            <a:r>
              <a:rPr lang="en-US" sz="2000" dirty="0"/>
              <a:t>A computerized system is needed to manage reservations efficiently. </a:t>
            </a:r>
          </a:p>
          <a:p>
            <a:r>
              <a:rPr lang="en-US" sz="2000" dirty="0"/>
              <a:t>The Hotel Reservation Management System is developed to overcome these problems by storing and managing hotel-related information in a centralized MySQL database.</a:t>
            </a:r>
          </a:p>
          <a:p>
            <a:r>
              <a:rPr lang="en-US" sz="2000" dirty="0"/>
              <a:t> The system helps manage customer details, hotel information, room details, reservations, payments, and staff information efficiently.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2F9FA-5E5D-EE5C-3139-DFA933589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108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95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4228-9F60-288A-7D46-71279105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392" y="365125"/>
            <a:ext cx="7557407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5D46-4516-C023-CB80-72454D7E4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/>
          </a:bodyPr>
          <a:lstStyle/>
          <a:p>
            <a:r>
              <a:rPr lang="en-US" sz="2000" dirty="0"/>
              <a:t>The main objectives of the Hotel Reservation Management System are:</a:t>
            </a:r>
          </a:p>
          <a:p>
            <a:r>
              <a:rPr lang="en-US" sz="2000" dirty="0"/>
              <a:t>To manage customer information efficiently.</a:t>
            </a:r>
          </a:p>
          <a:p>
            <a:r>
              <a:rPr lang="en-US" sz="2000" dirty="0"/>
              <a:t>To manage hotel and room details.</a:t>
            </a:r>
          </a:p>
          <a:p>
            <a:r>
              <a:rPr lang="en-US" sz="2000" dirty="0"/>
              <a:t>To check room availability quickly.</a:t>
            </a:r>
          </a:p>
          <a:p>
            <a:r>
              <a:rPr lang="en-US" sz="2000" dirty="0"/>
              <a:t>To create, update, and cancel room reservations.</a:t>
            </a:r>
          </a:p>
          <a:p>
            <a:r>
              <a:rPr lang="en-US" sz="2000" dirty="0"/>
              <a:t>To maintain payment information.</a:t>
            </a:r>
          </a:p>
          <a:p>
            <a:r>
              <a:rPr lang="en-US" sz="2000" dirty="0"/>
              <a:t>To reduce manual work and paperwork.</a:t>
            </a:r>
          </a:p>
          <a:p>
            <a:r>
              <a:rPr lang="en-US" sz="2000" dirty="0"/>
              <a:t>To minimize errors and duplicate bookings.</a:t>
            </a:r>
          </a:p>
          <a:p>
            <a:r>
              <a:rPr lang="en-US" sz="2000" dirty="0"/>
              <a:t>To maintain accurate and consistent records.</a:t>
            </a:r>
          </a:p>
          <a:p>
            <a:r>
              <a:rPr lang="en-US" sz="2000" dirty="0"/>
              <a:t>To provide quick access to customer, room, and reservation information.</a:t>
            </a:r>
          </a:p>
          <a:p>
            <a:r>
              <a:rPr lang="en-US" sz="2000" dirty="0"/>
              <a:t>To improve the overall efficiency of hotel management.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06A58-D23B-0F32-CEE5-AAC3865F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8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2F9AE3-FC29-970C-B8A2-23218032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2329733"/>
            <a:ext cx="4809068" cy="3783610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Functional Requirements</a:t>
            </a:r>
          </a:p>
        </p:txBody>
      </p:sp>
      <p:pic>
        <p:nvPicPr>
          <p:cNvPr id="15" name="Graphic 14" descr="Laptop Secure">
            <a:extLst>
              <a:ext uri="{FF2B5EF4-FFF2-40B4-BE49-F238E27FC236}">
                <a16:creationId xmlns:a16="http://schemas.microsoft.com/office/drawing/2014/main" id="{396385A9-C90E-434B-C54D-B8F9C10F52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799" y="1399430"/>
            <a:ext cx="914400" cy="7394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89C5B-AC8E-8EF4-6AE5-0620FECE0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lvl="0"/>
            <a:r>
              <a:rPr lang="en-US" sz="1800"/>
              <a:t>User registration and login. </a:t>
            </a:r>
          </a:p>
          <a:p>
            <a:pPr lvl="0"/>
            <a:r>
              <a:rPr lang="en-US" sz="1800"/>
              <a:t>Search available rooms by date and type. </a:t>
            </a:r>
          </a:p>
          <a:p>
            <a:pPr lvl="0"/>
            <a:r>
              <a:rPr lang="en-US" sz="1800"/>
              <a:t>View room details, price, and availability. </a:t>
            </a:r>
          </a:p>
          <a:p>
            <a:pPr lvl="0"/>
            <a:r>
              <a:rPr lang="en-US" sz="1800"/>
              <a:t>Make and confirm room reservations. </a:t>
            </a:r>
          </a:p>
          <a:p>
            <a:pPr lvl="0"/>
            <a:r>
              <a:rPr lang="en-US" sz="1800"/>
              <a:t>Modify or cancel reservations. </a:t>
            </a:r>
          </a:p>
          <a:p>
            <a:pPr lvl="0"/>
            <a:r>
              <a:rPr lang="en-US" sz="1800"/>
              <a:t>Store and manage customer information. </a:t>
            </a:r>
          </a:p>
          <a:p>
            <a:pPr lvl="0"/>
            <a:r>
              <a:rPr lang="en-US" sz="1800"/>
              <a:t>Calculate booking cost and generate bills. </a:t>
            </a:r>
          </a:p>
          <a:p>
            <a:pPr lvl="0"/>
            <a:r>
              <a:rPr lang="en-US" sz="1800"/>
              <a:t>Process payment details securely. </a:t>
            </a:r>
          </a:p>
          <a:p>
            <a:pPr lvl="0"/>
            <a:r>
              <a:rPr lang="en-US" sz="1800"/>
              <a:t>Send booking confirmation and notifications. </a:t>
            </a:r>
          </a:p>
          <a:p>
            <a:pPr lvl="0"/>
            <a:r>
              <a:rPr lang="en-US" sz="1800"/>
              <a:t>Admin can manage rooms, bookings, and customers. 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82EE7E-A129-22DE-D3E8-98465516F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8960-DB5D-FA60-9557-0CA2CADA4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91" y="2767055"/>
            <a:ext cx="4809068" cy="3270088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Non-Functional Requirements</a:t>
            </a:r>
          </a:p>
        </p:txBody>
      </p:sp>
      <p:pic>
        <p:nvPicPr>
          <p:cNvPr id="23" name="Graphic 22" descr="Server">
            <a:extLst>
              <a:ext uri="{FF2B5EF4-FFF2-40B4-BE49-F238E27FC236}">
                <a16:creationId xmlns:a16="http://schemas.microsoft.com/office/drawing/2014/main" id="{E5743D70-DAC5-E195-B837-13C4150FA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3578" y="1693742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236E1-CA34-A418-64F3-D1AD79C66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anchor="ctr">
            <a:normAutofit/>
          </a:bodyPr>
          <a:lstStyle/>
          <a:p>
            <a:pPr lvl="0"/>
            <a:r>
              <a:rPr lang="en-US" sz="1800"/>
              <a:t>System should be easy to use. </a:t>
            </a:r>
          </a:p>
          <a:p>
            <a:pPr lvl="0"/>
            <a:r>
              <a:rPr lang="en-US" sz="1800"/>
              <a:t>System should provide fast response time. </a:t>
            </a:r>
          </a:p>
          <a:p>
            <a:pPr lvl="0"/>
            <a:r>
              <a:rPr lang="en-US" sz="1800"/>
              <a:t>System should ensure data security. </a:t>
            </a:r>
          </a:p>
          <a:p>
            <a:pPr lvl="0"/>
            <a:r>
              <a:rPr lang="en-US" sz="1800"/>
              <a:t>System should be reliable and available. </a:t>
            </a:r>
          </a:p>
          <a:p>
            <a:pPr lvl="0"/>
            <a:r>
              <a:rPr lang="en-US" sz="1800"/>
              <a:t>System should support multiple users. </a:t>
            </a:r>
          </a:p>
          <a:p>
            <a:pPr lvl="0"/>
            <a:r>
              <a:rPr lang="en-US" sz="1800"/>
              <a:t>System should maintain data accuracy. </a:t>
            </a:r>
          </a:p>
          <a:p>
            <a:pPr lvl="0"/>
            <a:r>
              <a:rPr lang="en-US" sz="1800"/>
              <a:t>System should be easy to maintain. </a:t>
            </a:r>
          </a:p>
          <a:p>
            <a:pPr lvl="0"/>
            <a:r>
              <a:rPr lang="en-US" sz="1800"/>
              <a:t>System should be scalable for future needs. </a:t>
            </a:r>
          </a:p>
          <a:p>
            <a:pPr lvl="0"/>
            <a:r>
              <a:rPr lang="en-US" sz="1800"/>
              <a:t>System should provide secure user authentication. </a:t>
            </a:r>
          </a:p>
          <a:p>
            <a:pPr lvl="0"/>
            <a:r>
              <a:rPr lang="en-US" sz="1800"/>
              <a:t>System should have minimal system downtime. </a:t>
            </a:r>
          </a:p>
          <a:p>
            <a:endParaRPr lang="en-US" sz="1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E0120E-E050-CDCB-295F-1D4B14382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30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CA8C-9AE2-5280-E3B5-B02848F9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496" y="365125"/>
            <a:ext cx="8332304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End Users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ED41-B55D-19E3-4235-C1DF0D88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Customer/Guest </a:t>
            </a:r>
            <a:r>
              <a:rPr lang="en-US" sz="2000" dirty="0"/>
              <a:t>– Searches for rooms, checks availability, makes reservations, and       cancels bookings.</a:t>
            </a:r>
          </a:p>
          <a:p>
            <a:endParaRPr lang="en-US" sz="2000" dirty="0"/>
          </a:p>
          <a:p>
            <a:r>
              <a:rPr lang="en-US" sz="2000" b="1" dirty="0"/>
              <a:t>Receptionist </a:t>
            </a:r>
            <a:r>
              <a:rPr lang="en-US" sz="2000" dirty="0"/>
              <a:t>– Manages customer check-in, check-out, and reservations.</a:t>
            </a:r>
          </a:p>
          <a:p>
            <a:endParaRPr lang="en-US" sz="2000" dirty="0"/>
          </a:p>
          <a:p>
            <a:r>
              <a:rPr lang="en-US" sz="2000" b="1" dirty="0"/>
              <a:t>Hotel Manager </a:t>
            </a:r>
            <a:r>
              <a:rPr lang="en-US" sz="2000" dirty="0"/>
              <a:t>– Monitors rooms, bookings, customers, and hotel operations.</a:t>
            </a:r>
          </a:p>
          <a:p>
            <a:endParaRPr lang="en-US" sz="2000" dirty="0"/>
          </a:p>
          <a:p>
            <a:r>
              <a:rPr lang="en-US" sz="2000" b="1" dirty="0"/>
              <a:t>Administrator </a:t>
            </a:r>
            <a:r>
              <a:rPr lang="en-US" sz="2000" dirty="0"/>
              <a:t>– Manages users, rooms, hotel details, and system records.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565AB3-B0F6-22A9-B848-864237F3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24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EA99-D855-0BCC-13B6-F7682554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1252" y="365125"/>
            <a:ext cx="8292548" cy="132556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Attributes And Entities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7DB3C678-C4C4-1439-446B-BD68137A79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0872789"/>
              </p:ext>
            </p:extLst>
          </p:nvPr>
        </p:nvGraphicFramePr>
        <p:xfrm>
          <a:off x="1550504" y="1820849"/>
          <a:ext cx="2385391" cy="2282025"/>
        </p:xfrm>
        <a:graphic>
          <a:graphicData uri="http://schemas.openxmlformats.org/drawingml/2006/table">
            <a:tbl>
              <a:tblPr/>
              <a:tblGrid>
                <a:gridCol w="2385391">
                  <a:extLst>
                    <a:ext uri="{9D8B030D-6E8A-4147-A177-3AD203B41FA5}">
                      <a16:colId xmlns:a16="http://schemas.microsoft.com/office/drawing/2014/main" val="3504913785"/>
                    </a:ext>
                  </a:extLst>
                </a:gridCol>
              </a:tblGrid>
              <a:tr h="2282025">
                <a:tc>
                  <a:txBody>
                    <a:bodyPr/>
                    <a:lstStyle/>
                    <a:p>
                      <a:r>
                        <a:rPr lang="en-US" b="1" dirty="0"/>
                        <a:t>1.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Name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Phone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Email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Address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5719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3D85FDC-5374-C72C-4D19-DBADB3CEA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600402"/>
              </p:ext>
            </p:extLst>
          </p:nvPr>
        </p:nvGraphicFramePr>
        <p:xfrm>
          <a:off x="4349362" y="1816872"/>
          <a:ext cx="2377440" cy="22860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1740485275"/>
                    </a:ext>
                  </a:extLst>
                </a:gridCol>
              </a:tblGrid>
              <a:tr h="2286001">
                <a:tc>
                  <a:txBody>
                    <a:bodyPr/>
                    <a:lstStyle/>
                    <a:p>
                      <a:r>
                        <a:rPr lang="en-US" b="1" dirty="0"/>
                        <a:t>2. Room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Room_Number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Room_Type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Price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Status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27892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47C39F3-A2EF-8F17-00D6-72AA794B3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610758"/>
              </p:ext>
            </p:extLst>
          </p:nvPr>
        </p:nvGraphicFramePr>
        <p:xfrm>
          <a:off x="7235687" y="1816873"/>
          <a:ext cx="2385391" cy="2286000"/>
        </p:xfrm>
        <a:graphic>
          <a:graphicData uri="http://schemas.openxmlformats.org/drawingml/2006/table">
            <a:tbl>
              <a:tblPr/>
              <a:tblGrid>
                <a:gridCol w="2385391">
                  <a:extLst>
                    <a:ext uri="{9D8B030D-6E8A-4147-A177-3AD203B41FA5}">
                      <a16:colId xmlns:a16="http://schemas.microsoft.com/office/drawing/2014/main" val="4262715157"/>
                    </a:ext>
                  </a:extLst>
                </a:gridCol>
              </a:tblGrid>
              <a:tr h="1899330">
                <a:tc>
                  <a:txBody>
                    <a:bodyPr/>
                    <a:lstStyle/>
                    <a:p>
                      <a:r>
                        <a:rPr lang="en-US" b="1" dirty="0"/>
                        <a:t>3. Reservation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Reservation_ID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Customer_ID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Room_ID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Check_In_Date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Check_Out_Date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Booking_Status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16625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2F9B835-6F12-DF9A-D060-115B84756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390463"/>
              </p:ext>
            </p:extLst>
          </p:nvPr>
        </p:nvGraphicFramePr>
        <p:xfrm>
          <a:off x="1550504" y="4325509"/>
          <a:ext cx="2385391" cy="2194560"/>
        </p:xfrm>
        <a:graphic>
          <a:graphicData uri="http://schemas.openxmlformats.org/drawingml/2006/table">
            <a:tbl>
              <a:tblPr/>
              <a:tblGrid>
                <a:gridCol w="2385391">
                  <a:extLst>
                    <a:ext uri="{9D8B030D-6E8A-4147-A177-3AD203B41FA5}">
                      <a16:colId xmlns:a16="http://schemas.microsoft.com/office/drawing/2014/main" val="2073972415"/>
                    </a:ext>
                  </a:extLst>
                </a:gridCol>
              </a:tblGrid>
              <a:tr h="2194560">
                <a:tc>
                  <a:txBody>
                    <a:bodyPr/>
                    <a:lstStyle/>
                    <a:p>
                      <a:r>
                        <a:rPr lang="en-US" b="1" dirty="0"/>
                        <a:t>4. Staff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Staff_ID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Staff_Name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Phone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Role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Salary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09626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5D64A93-4E1E-CA6E-BCD3-6CFBE31E2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77538"/>
              </p:ext>
            </p:extLst>
          </p:nvPr>
        </p:nvGraphicFramePr>
        <p:xfrm>
          <a:off x="4317556" y="4325507"/>
          <a:ext cx="2441052" cy="2286001"/>
        </p:xfrm>
        <a:graphic>
          <a:graphicData uri="http://schemas.openxmlformats.org/drawingml/2006/table">
            <a:tbl>
              <a:tblPr/>
              <a:tblGrid>
                <a:gridCol w="2441052">
                  <a:extLst>
                    <a:ext uri="{9D8B030D-6E8A-4147-A177-3AD203B41FA5}">
                      <a16:colId xmlns:a16="http://schemas.microsoft.com/office/drawing/2014/main" val="1073544924"/>
                    </a:ext>
                  </a:extLst>
                </a:gridCol>
              </a:tblGrid>
              <a:tr h="2286001">
                <a:tc>
                  <a:txBody>
                    <a:bodyPr/>
                    <a:lstStyle/>
                    <a:p>
                      <a:r>
                        <a:rPr lang="en-US" b="1" dirty="0"/>
                        <a:t>5. Hotel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Hotel_ID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Hotel_Name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Location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Phone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Email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618642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D377739-17FA-6EEA-2D18-BAD31F55D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266990"/>
              </p:ext>
            </p:extLst>
          </p:nvPr>
        </p:nvGraphicFramePr>
        <p:xfrm>
          <a:off x="7235688" y="4325508"/>
          <a:ext cx="2385390" cy="2286000"/>
        </p:xfrm>
        <a:graphic>
          <a:graphicData uri="http://schemas.openxmlformats.org/drawingml/2006/table">
            <a:tbl>
              <a:tblPr/>
              <a:tblGrid>
                <a:gridCol w="2385390">
                  <a:extLst>
                    <a:ext uri="{9D8B030D-6E8A-4147-A177-3AD203B41FA5}">
                      <a16:colId xmlns:a16="http://schemas.microsoft.com/office/drawing/2014/main" val="3892606720"/>
                    </a:ext>
                  </a:extLst>
                </a:gridCol>
              </a:tblGrid>
              <a:tr h="2167367">
                <a:tc>
                  <a:txBody>
                    <a:bodyPr/>
                    <a:lstStyle/>
                    <a:p>
                      <a:r>
                        <a:rPr lang="en-US" b="1" dirty="0"/>
                        <a:t>6. Payment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Reservation_ID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Payment_Date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Amount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Payment_Method</a:t>
                      </a:r>
                      <a:r>
                        <a:rPr lang="en-US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Payment_Status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253568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B1ADFE5-DAB2-B8B6-E077-56C0A742B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170"/>
            <a:ext cx="2293819" cy="97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5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2E4C8-529E-92BA-8321-4388957C9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4" y="0"/>
            <a:ext cx="2203736" cy="934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735AD8-9780-DE09-A851-B791CEBC75BF}"/>
              </a:ext>
            </a:extLst>
          </p:cNvPr>
          <p:cNvSpPr txBox="1"/>
          <p:nvPr/>
        </p:nvSpPr>
        <p:spPr>
          <a:xfrm>
            <a:off x="1386348" y="1858297"/>
            <a:ext cx="9517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Hotel Reservation Management System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6988E-8230-BE17-F6D5-51907D64AB27}"/>
              </a:ext>
            </a:extLst>
          </p:cNvPr>
          <p:cNvSpPr txBox="1"/>
          <p:nvPr/>
        </p:nvSpPr>
        <p:spPr>
          <a:xfrm>
            <a:off x="7521676" y="4129549"/>
            <a:ext cx="36772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G.Keerthi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Harshana:25B11CS269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T.Radhika:25B11CS945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T.Lakshmi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Sowjanya:26B21CS070</a:t>
            </a:r>
          </a:p>
          <a:p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R.Pavithra:25B11CS804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53ECA-80BB-0298-6A59-AFC9894FEF2E}"/>
              </a:ext>
            </a:extLst>
          </p:cNvPr>
          <p:cNvSpPr txBox="1"/>
          <p:nvPr/>
        </p:nvSpPr>
        <p:spPr>
          <a:xfrm>
            <a:off x="4768646" y="2844225"/>
            <a:ext cx="1977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REVIEW 2</a:t>
            </a:r>
          </a:p>
        </p:txBody>
      </p:sp>
    </p:spTree>
    <p:extLst>
      <p:ext uri="{BB962C8B-B14F-4D97-AF65-F5344CB8AC3E}">
        <p14:creationId xmlns:p14="http://schemas.microsoft.com/office/powerpoint/2010/main" val="129332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EAD8A3-29E0-C242-6391-76F006A28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0"/>
            <a:ext cx="2293819" cy="92972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3D255B-BB3A-9E75-18F1-6BC745E87E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929721"/>
            <a:ext cx="10048568" cy="57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DEBB84-F7D6-FC82-2B18-576752014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495879-391B-9468-DA4D-A3DF56D21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1120877"/>
            <a:ext cx="10577052" cy="50560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Your ER diagram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Entities: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3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F9A1-16BF-97FF-6A3E-789CDF88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456" y="365125"/>
            <a:ext cx="8730343" cy="8540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SQL Creation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2D88-8555-3942-183A-66589E443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19200"/>
            <a:ext cx="10863943" cy="545374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1.Hotel Table                                                  2.Customer Table</a:t>
            </a:r>
          </a:p>
          <a:p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4D60C-2E62-6042-5BEF-B91BCA155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41F180-3D65-8FE9-22ED-84535DBDBA52}"/>
              </a:ext>
            </a:extLst>
          </p:cNvPr>
          <p:cNvSpPr txBox="1"/>
          <p:nvPr/>
        </p:nvSpPr>
        <p:spPr>
          <a:xfrm>
            <a:off x="962108" y="1794682"/>
            <a:ext cx="44209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CREATE TABLE HOTEL (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Hotel_ID</a:t>
            </a:r>
            <a:r>
              <a:rPr lang="en-US" sz="1800" dirty="0"/>
              <a:t> NUMBER PRIMARY KEY,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Hotel_Name</a:t>
            </a:r>
            <a:r>
              <a:rPr lang="en-US" sz="1800" dirty="0"/>
              <a:t> VARCHAR2(50) NOT NULL,</a:t>
            </a:r>
          </a:p>
          <a:p>
            <a:r>
              <a:rPr lang="en-US" sz="1800" dirty="0"/>
              <a:t>    Location VARCHAR2(50) NOT NULL,</a:t>
            </a:r>
          </a:p>
          <a:p>
            <a:r>
              <a:rPr lang="en-US" sz="1800" dirty="0"/>
              <a:t>    Phone VARCHAR2(15) UNIQUE,</a:t>
            </a:r>
          </a:p>
          <a:p>
            <a:r>
              <a:rPr lang="en-US" sz="1800" dirty="0"/>
              <a:t>    Email VARCHAR2(60) UNIQUE</a:t>
            </a:r>
          </a:p>
          <a:p>
            <a:r>
              <a:rPr lang="en-US" sz="1800" dirty="0"/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43281-8CF4-0EDC-0A57-382EEDC4D017}"/>
              </a:ext>
            </a:extLst>
          </p:cNvPr>
          <p:cNvSpPr txBox="1"/>
          <p:nvPr/>
        </p:nvSpPr>
        <p:spPr>
          <a:xfrm>
            <a:off x="6345140" y="1701580"/>
            <a:ext cx="44765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CREATE TABLE CUSTOMER (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Customer_ID</a:t>
            </a:r>
            <a:r>
              <a:rPr lang="en-US" sz="1800" dirty="0"/>
              <a:t> NUMBER PRIMARY KEY,</a:t>
            </a:r>
          </a:p>
          <a:p>
            <a:r>
              <a:rPr lang="en-US" sz="1800" dirty="0"/>
              <a:t>    Name VARCHAR2(50) NOT NULL,</a:t>
            </a:r>
          </a:p>
          <a:p>
            <a:r>
              <a:rPr lang="en-US" sz="1800" dirty="0"/>
              <a:t>    Phone VARCHAR2(15) UNIQUE,</a:t>
            </a:r>
          </a:p>
          <a:p>
            <a:r>
              <a:rPr lang="en-US" sz="1800" dirty="0"/>
              <a:t>    Email VARCHAR2(60) UNIQUE,</a:t>
            </a:r>
          </a:p>
          <a:p>
            <a:r>
              <a:rPr lang="en-US" sz="1800" dirty="0"/>
              <a:t>    Address VARCHAR2(100)</a:t>
            </a:r>
          </a:p>
          <a:p>
            <a:r>
              <a:rPr lang="en-US" sz="1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68447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67780-AF46-3057-8E5A-A259AC86E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29" y="220702"/>
            <a:ext cx="11560542" cy="641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07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BAC07F-184E-0FF4-756A-A6E4B921F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18" y="258805"/>
            <a:ext cx="11126164" cy="63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51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C79E6-DFB1-A900-BC21-474C8D9F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4" y="315960"/>
            <a:ext cx="11446232" cy="62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16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B95C75-FC7F-02E8-1249-693C43C9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91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00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26A5-7C0F-8D61-485A-46AD56CD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644" y="365126"/>
            <a:ext cx="8030155" cy="89913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Sample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41289-E38D-34C1-CA82-42CA0FEDF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4258"/>
            <a:ext cx="10515600" cy="49127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Hotel Table                                                        Room Table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/>
              <a:t>SQL&gt;SELECT * FROM HOTEL;                                                     SQL&gt;SELECT * FROM ROOM;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E6941-2674-06F3-9B7A-AB9132353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64A512-7B66-508E-A003-16484E070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38387"/>
            <a:ext cx="4934447" cy="4253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FEB656-6FB2-442F-D36F-F3D7E3057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355" y="2425148"/>
            <a:ext cx="5483748" cy="41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54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472C-2AD9-43FC-F092-DAE2EF1E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7C19-7CC4-4012-25A4-DDEE5283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5182"/>
            <a:ext cx="10515600" cy="5241781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Staff Table                                                   Reservation Table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000" dirty="0"/>
              <a:t>SQL&gt;SELECT * FROM STAFF                                                SQL&gt;SELECT * FROM RESERVATION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2EA90-4D32-5D95-C05E-7297A47C6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F157CC-87DB-A466-9F87-BCF7B800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093768"/>
            <a:ext cx="4990106" cy="4219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6001A-6110-AA31-69FD-348D9915E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93767"/>
            <a:ext cx="5775297" cy="42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823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8E26-3431-EA0F-7AAC-2E90417F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94318-AE8D-453D-A20D-2FD76FEC6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846"/>
            <a:ext cx="10515600" cy="4882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  Customer Table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  </a:t>
            </a:r>
            <a:r>
              <a:rPr lang="en-US" sz="2000" dirty="0"/>
              <a:t>SQL&gt;SELECT * FROM CUSTOMER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5FF47C-3DDE-F75F-CED2-2BA4C735F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5CB177-9393-AA24-8CD6-DC5F67F9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09" y="2564750"/>
            <a:ext cx="6907762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88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DB07-30FE-D95D-0461-DC1A22A3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030" y="365125"/>
            <a:ext cx="8419769" cy="96274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Basic Queries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51DAD-E957-1B58-D132-17A2A3BA2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7868"/>
            <a:ext cx="10515600" cy="4849095"/>
          </a:xfrm>
        </p:spPr>
        <p:txBody>
          <a:bodyPr/>
          <a:lstStyle/>
          <a:p>
            <a:r>
              <a:rPr lang="en-US" b="1" dirty="0"/>
              <a:t>Q1. Display all customer details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400" dirty="0"/>
              <a:t>SELECT * FROM CUSTOMER;</a:t>
            </a:r>
          </a:p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34387-4EE3-934A-9EB1-3A13A4733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9A70A4-D3B1-07ED-EC85-CF8EDF5A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819" y="2767013"/>
            <a:ext cx="66389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01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C8EB-E609-56B8-CF3C-EDD13DAB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AC788-C642-065F-DC0E-26F5425D9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475"/>
            <a:ext cx="10515600" cy="5111488"/>
          </a:xfrm>
        </p:spPr>
        <p:txBody>
          <a:bodyPr/>
          <a:lstStyle/>
          <a:p>
            <a:r>
              <a:rPr lang="en-US" b="1" dirty="0"/>
              <a:t>Q2. Display all available rooms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sz="2400" dirty="0"/>
              <a:t>SELECT </a:t>
            </a:r>
            <a:r>
              <a:rPr lang="en-US" sz="2400" dirty="0" err="1"/>
              <a:t>Room_ID</a:t>
            </a:r>
            <a:r>
              <a:rPr lang="en-US" sz="2400" dirty="0"/>
              <a:t>, </a:t>
            </a:r>
            <a:r>
              <a:rPr lang="en-US" sz="2400" dirty="0" err="1"/>
              <a:t>Room_Number</a:t>
            </a:r>
            <a:r>
              <a:rPr lang="en-US" sz="2400" dirty="0"/>
              <a:t>,                     Output: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 err="1"/>
              <a:t>Room_Type</a:t>
            </a:r>
            <a:r>
              <a:rPr lang="en-US" sz="2400" dirty="0"/>
              <a:t>, Price</a:t>
            </a:r>
          </a:p>
          <a:p>
            <a:pPr marL="0" indent="0">
              <a:buNone/>
            </a:pPr>
            <a:r>
              <a:rPr lang="en-US" sz="2400" dirty="0"/>
              <a:t>       FROM ROOM</a:t>
            </a:r>
          </a:p>
          <a:p>
            <a:pPr marL="0" indent="0">
              <a:buNone/>
            </a:pPr>
            <a:r>
              <a:rPr lang="en-US" sz="2400" dirty="0"/>
              <a:t>      WHERE Status = 'Available';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FFA439-DAAF-DB2F-BB37-7EAF8E831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E126BD-4BD4-01E3-54E4-AFA926BCD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146853"/>
            <a:ext cx="5600700" cy="36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95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8369-5754-C2EC-DABB-8E20F128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4894E-9346-F796-7C86-13AB12310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5380"/>
            <a:ext cx="10515600" cy="5041583"/>
          </a:xfrm>
        </p:spPr>
        <p:txBody>
          <a:bodyPr/>
          <a:lstStyle/>
          <a:p>
            <a:r>
              <a:rPr lang="en-US" b="1" dirty="0"/>
              <a:t>Q3. Display customer names and reservation status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D8952-17AD-6273-35F7-2B07971C6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85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E1B021-A97A-8C40-49D7-1267356C80AE}"/>
              </a:ext>
            </a:extLst>
          </p:cNvPr>
          <p:cNvSpPr txBox="1"/>
          <p:nvPr/>
        </p:nvSpPr>
        <p:spPr>
          <a:xfrm>
            <a:off x="1036320" y="16906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c.Name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r.Reservation_ID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r.Booking_Status</a:t>
            </a:r>
            <a:endParaRPr lang="en-US" dirty="0"/>
          </a:p>
          <a:p>
            <a:r>
              <a:rPr lang="en-US" dirty="0"/>
              <a:t>FROM CUSTOMER c</a:t>
            </a:r>
          </a:p>
          <a:p>
            <a:r>
              <a:rPr lang="en-US" dirty="0"/>
              <a:t>JOIN RESERVATION r</a:t>
            </a:r>
          </a:p>
          <a:p>
            <a:r>
              <a:rPr lang="en-US" dirty="0"/>
              <a:t>ON </a:t>
            </a:r>
            <a:r>
              <a:rPr lang="en-US" dirty="0" err="1"/>
              <a:t>c.Customer_ID</a:t>
            </a:r>
            <a:r>
              <a:rPr lang="en-US" dirty="0"/>
              <a:t> = </a:t>
            </a:r>
            <a:r>
              <a:rPr lang="en-US" dirty="0" err="1"/>
              <a:t>r.Customer_ID</a:t>
            </a:r>
            <a:r>
              <a:rPr lang="en-US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7B0C0E-20E9-FA84-20A0-3D294FB2B42D}"/>
              </a:ext>
            </a:extLst>
          </p:cNvPr>
          <p:cNvSpPr txBox="1"/>
          <p:nvPr/>
        </p:nvSpPr>
        <p:spPr>
          <a:xfrm>
            <a:off x="7200900" y="16906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763F7A-D70F-DF4C-713A-579F7DADD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622" y="2529344"/>
            <a:ext cx="55530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200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708B-4495-130B-BF1F-0CA1F21D9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  <a:endParaRPr lang="en-IN" sz="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9D5A-EAB4-6F4E-C440-CBFE31723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059179"/>
            <a:ext cx="11539044" cy="5117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Q4. Display reservation details with customer and room information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r.Reservation_ID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c.Name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rm.Room_Number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r.Check_In_Date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r.Check_Out_Date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r.Booking_Status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RESERVATION r</a:t>
            </a:r>
          </a:p>
          <a:p>
            <a:pPr marL="0" indent="0">
              <a:buNone/>
            </a:pPr>
            <a:r>
              <a:rPr lang="en-US" sz="2000" dirty="0"/>
              <a:t>JOIN CUSTOMER c</a:t>
            </a:r>
          </a:p>
          <a:p>
            <a:pPr marL="0" indent="0">
              <a:buNone/>
            </a:pPr>
            <a:r>
              <a:rPr lang="en-US" sz="2000" dirty="0"/>
              <a:t>ON </a:t>
            </a:r>
            <a:r>
              <a:rPr lang="en-US" sz="2000" dirty="0" err="1"/>
              <a:t>r.Customer_ID</a:t>
            </a:r>
            <a:r>
              <a:rPr lang="en-US" sz="2000" dirty="0"/>
              <a:t> = </a:t>
            </a:r>
            <a:r>
              <a:rPr lang="en-US" sz="2000" dirty="0" err="1"/>
              <a:t>c.Customer_ID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JOIN ROOM rm</a:t>
            </a:r>
          </a:p>
          <a:p>
            <a:pPr marL="0" indent="0">
              <a:buNone/>
            </a:pPr>
            <a:r>
              <a:rPr lang="en-US" sz="2000" dirty="0"/>
              <a:t>ON </a:t>
            </a:r>
            <a:r>
              <a:rPr lang="en-US" sz="2000" dirty="0" err="1"/>
              <a:t>r.Room_ID</a:t>
            </a:r>
            <a:r>
              <a:rPr lang="en-US" sz="2000" dirty="0"/>
              <a:t> = </a:t>
            </a:r>
            <a:r>
              <a:rPr lang="en-US" sz="2000" dirty="0" err="1"/>
              <a:t>rm.Room_ID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601CE-D009-E33F-7081-4D665F027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A075F-64C5-6D1C-50FB-14E5FA4C4B18}"/>
              </a:ext>
            </a:extLst>
          </p:cNvPr>
          <p:cNvSpPr txBox="1"/>
          <p:nvPr/>
        </p:nvSpPr>
        <p:spPr>
          <a:xfrm>
            <a:off x="6187440" y="1690688"/>
            <a:ext cx="3322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717A69-FD42-AA2B-7790-CFBB5D1D7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360" y="2307282"/>
            <a:ext cx="6598920" cy="398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5588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6F07-3A2E-2924-AB92-760F4E0B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  <a:endParaRPr lang="en-IN" sz="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7CCFC-1198-37B6-EED5-2B83D3D8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31" y="940608"/>
            <a:ext cx="11782097" cy="5236356"/>
          </a:xfrm>
        </p:spPr>
        <p:txBody>
          <a:bodyPr>
            <a:normAutofit/>
          </a:bodyPr>
          <a:lstStyle/>
          <a:p>
            <a:r>
              <a:rPr lang="en-US" sz="2400" b="1" dirty="0"/>
              <a:t>Q5. Find the total paid amount</a:t>
            </a:r>
          </a:p>
          <a:p>
            <a:pPr marL="0" indent="0">
              <a:buNone/>
            </a:pPr>
            <a:r>
              <a:rPr lang="en-US" sz="2400" b="1" dirty="0"/>
              <a:t>   </a:t>
            </a:r>
            <a:r>
              <a:rPr lang="en-US" sz="2000" dirty="0"/>
              <a:t>SELECT SUM(Amount) AS </a:t>
            </a:r>
            <a:r>
              <a:rPr lang="en-US" sz="2000" dirty="0" err="1"/>
              <a:t>Total_Paid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FROM PAYMENT</a:t>
            </a:r>
          </a:p>
          <a:p>
            <a:pPr marL="0" indent="0">
              <a:buNone/>
            </a:pPr>
            <a:r>
              <a:rPr lang="en-US" sz="2000" dirty="0"/>
              <a:t>   WHERE </a:t>
            </a:r>
            <a:r>
              <a:rPr lang="en-US" sz="2000" dirty="0" err="1"/>
              <a:t>Payment_Status</a:t>
            </a:r>
            <a:r>
              <a:rPr lang="en-US" sz="2000" dirty="0"/>
              <a:t> = 'Paid';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64384-B148-25F5-C96B-122EF07A4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3D2EA5-E53C-6C91-9307-A17DB3DA7CCF}"/>
              </a:ext>
            </a:extLst>
          </p:cNvPr>
          <p:cNvSpPr txBox="1"/>
          <p:nvPr/>
        </p:nvSpPr>
        <p:spPr>
          <a:xfrm>
            <a:off x="533400" y="2722079"/>
            <a:ext cx="61645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6759ED-F14A-5131-702B-95BBA187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08" y="3284220"/>
            <a:ext cx="1638300" cy="127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975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A913-B475-D14F-49DC-06256C964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5C7F3-A686-B123-F2EC-E30F9F4F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5072063"/>
          </a:xfrm>
        </p:spPr>
        <p:txBody>
          <a:bodyPr>
            <a:normAutofit/>
          </a:bodyPr>
          <a:lstStyle/>
          <a:p>
            <a:r>
              <a:rPr lang="en-US" sz="2400" b="1" dirty="0"/>
              <a:t>Q6. Display hotel names and staff working in them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h.Hotel_Name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s.Staff_Name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</a:t>
            </a:r>
            <a:r>
              <a:rPr lang="en-US" sz="2000" dirty="0" err="1"/>
              <a:t>s.Role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HOTEL h</a:t>
            </a:r>
          </a:p>
          <a:p>
            <a:pPr marL="0" indent="0">
              <a:buNone/>
            </a:pPr>
            <a:r>
              <a:rPr lang="en-US" sz="2000" dirty="0"/>
              <a:t>JOIN STAFF s</a:t>
            </a:r>
          </a:p>
          <a:p>
            <a:pPr marL="0" indent="0">
              <a:buNone/>
            </a:pPr>
            <a:r>
              <a:rPr lang="en-US" sz="2000" dirty="0"/>
              <a:t>ON </a:t>
            </a:r>
            <a:r>
              <a:rPr lang="en-US" sz="2000" dirty="0" err="1"/>
              <a:t>h.Hotel_ID</a:t>
            </a:r>
            <a:r>
              <a:rPr lang="en-US" sz="2000" dirty="0"/>
              <a:t> = </a:t>
            </a:r>
            <a:r>
              <a:rPr lang="en-US" sz="2000" dirty="0" err="1"/>
              <a:t>s.Hotel_ID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9A842-6317-B74F-58DA-8BBEE0DCC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E8454D-11C2-8ACC-6DC5-81B0713B9608}"/>
              </a:ext>
            </a:extLst>
          </p:cNvPr>
          <p:cNvSpPr txBox="1"/>
          <p:nvPr/>
        </p:nvSpPr>
        <p:spPr>
          <a:xfrm>
            <a:off x="6324600" y="1482704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0F7FC1-5805-AEFB-D6C5-5840BA78D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140" y="2044927"/>
            <a:ext cx="699515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4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99A82-653A-E130-6E47-671164F5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C6BD9-A7F6-8EB2-E959-4A3781F08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140643"/>
          </a:xfrm>
        </p:spPr>
        <p:txBody>
          <a:bodyPr>
            <a:normAutofit/>
          </a:bodyPr>
          <a:lstStyle/>
          <a:p>
            <a:r>
              <a:rPr lang="en-US" sz="2400" b="1" dirty="0"/>
              <a:t>Q7. Count rooms by room type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Room_Type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       COUNT(*) AS </a:t>
            </a:r>
            <a:r>
              <a:rPr lang="en-US" sz="2000" dirty="0" err="1"/>
              <a:t>Total_Rooms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FROM ROOM</a:t>
            </a:r>
          </a:p>
          <a:p>
            <a:pPr marL="0" indent="0">
              <a:buNone/>
            </a:pPr>
            <a:r>
              <a:rPr lang="en-US" sz="2000" dirty="0"/>
              <a:t>GROUP BY </a:t>
            </a:r>
            <a:r>
              <a:rPr lang="en-US" sz="2000" dirty="0" err="1"/>
              <a:t>Room_Type</a:t>
            </a:r>
            <a:r>
              <a:rPr lang="en-US" sz="20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89FF0-A0F8-2E45-85EB-5EA61846F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952713-6571-4374-19A9-602B29F01CDC}"/>
              </a:ext>
            </a:extLst>
          </p:cNvPr>
          <p:cNvSpPr txBox="1"/>
          <p:nvPr/>
        </p:nvSpPr>
        <p:spPr>
          <a:xfrm>
            <a:off x="5608320" y="13247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CC7D7C-9C1B-A1F1-1A04-78D7B2DD0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235" y="2217420"/>
            <a:ext cx="3295650" cy="183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416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F831-E72A-CD70-3C3B-C03BEE9B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380" y="365125"/>
            <a:ext cx="7932420" cy="991235"/>
          </a:xfrm>
        </p:spPr>
        <p:txBody>
          <a:bodyPr/>
          <a:lstStyle/>
          <a:p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Normalisation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5E2F0-DAC8-0C33-6054-E5B72921B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380"/>
            <a:ext cx="10515600" cy="466058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1NF – First Normal Form</a:t>
            </a:r>
          </a:p>
          <a:p>
            <a:pPr marL="0" indent="0">
              <a:buNone/>
            </a:pPr>
            <a:r>
              <a:rPr lang="en-US" dirty="0"/>
              <a:t>    Contains atomic (single) values</a:t>
            </a:r>
          </a:p>
          <a:p>
            <a:pPr marL="0" indent="0">
              <a:buNone/>
            </a:pPr>
            <a:r>
              <a:rPr lang="en-US" dirty="0"/>
              <a:t>    Avoids repeating groups</a:t>
            </a:r>
          </a:p>
          <a:p>
            <a:pPr marL="0" indent="0">
              <a:buNone/>
            </a:pPr>
            <a:r>
              <a:rPr lang="en-US" dirty="0"/>
              <a:t>    Each record has a unique primary key</a:t>
            </a:r>
          </a:p>
          <a:p>
            <a:r>
              <a:rPr lang="en-US" b="1" dirty="0"/>
              <a:t>2NF – Second Normal Form</a:t>
            </a:r>
          </a:p>
          <a:p>
            <a:pPr marL="0" indent="0">
              <a:buNone/>
            </a:pPr>
            <a:r>
              <a:rPr lang="en-US" dirty="0"/>
              <a:t>    Must already satisfy 1NF</a:t>
            </a:r>
          </a:p>
          <a:p>
            <a:pPr marL="0" indent="0">
              <a:buNone/>
            </a:pPr>
            <a:r>
              <a:rPr lang="en-US" dirty="0"/>
              <a:t>    Eliminates partial dependency</a:t>
            </a:r>
          </a:p>
          <a:p>
            <a:pPr marL="0" indent="0">
              <a:buNone/>
            </a:pPr>
            <a:r>
              <a:rPr lang="en-US" dirty="0"/>
              <a:t>    Every attribute depends on the entire primary key</a:t>
            </a:r>
          </a:p>
          <a:p>
            <a:r>
              <a:rPr lang="en-US" b="1" dirty="0"/>
              <a:t>3NF – Third Normal Form</a:t>
            </a:r>
          </a:p>
          <a:p>
            <a:pPr marL="0" indent="0">
              <a:buNone/>
            </a:pPr>
            <a:r>
              <a:rPr lang="en-US" dirty="0"/>
              <a:t>    Must already satisfy 2NF</a:t>
            </a:r>
          </a:p>
          <a:p>
            <a:pPr marL="0" indent="0">
              <a:buNone/>
            </a:pPr>
            <a:r>
              <a:rPr lang="en-US" dirty="0"/>
              <a:t>    Eliminates transitive dependency</a:t>
            </a:r>
          </a:p>
          <a:p>
            <a:pPr marL="0" indent="0">
              <a:buNone/>
            </a:pPr>
            <a:r>
              <a:rPr lang="en-US" dirty="0"/>
              <a:t>    Non-key attributes should depend only on the primary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A5684-3D9E-D1D1-E3E6-BCFBA30D8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79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2B91-C48C-706F-F052-5B67BF24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BFB4-F252-B928-2051-804FE71FF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66" y="1690688"/>
            <a:ext cx="11051650" cy="5326173"/>
          </a:xfrm>
        </p:spPr>
        <p:txBody>
          <a:bodyPr>
            <a:normAutofit/>
          </a:bodyPr>
          <a:lstStyle/>
          <a:p>
            <a:r>
              <a:rPr lang="en-US" sz="1800" dirty="0"/>
              <a:t>1NF — BEFORE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8658C-77AD-C16F-EB6A-87AC43677F83}"/>
              </a:ext>
            </a:extLst>
          </p:cNvPr>
          <p:cNvSpPr txBox="1"/>
          <p:nvPr/>
        </p:nvSpPr>
        <p:spPr>
          <a:xfrm>
            <a:off x="397566" y="1142771"/>
            <a:ext cx="6094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FIRST NORMAL FORM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6AC8B0-DBD6-3CA9-05F1-80115F4D9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695570"/>
              </p:ext>
            </p:extLst>
          </p:nvPr>
        </p:nvGraphicFramePr>
        <p:xfrm>
          <a:off x="612250" y="2261350"/>
          <a:ext cx="7657108" cy="2441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277">
                  <a:extLst>
                    <a:ext uri="{9D8B030D-6E8A-4147-A177-3AD203B41FA5}">
                      <a16:colId xmlns:a16="http://schemas.microsoft.com/office/drawing/2014/main" val="4055935113"/>
                    </a:ext>
                  </a:extLst>
                </a:gridCol>
                <a:gridCol w="1914277">
                  <a:extLst>
                    <a:ext uri="{9D8B030D-6E8A-4147-A177-3AD203B41FA5}">
                      <a16:colId xmlns:a16="http://schemas.microsoft.com/office/drawing/2014/main" val="1555852595"/>
                    </a:ext>
                  </a:extLst>
                </a:gridCol>
                <a:gridCol w="1914277">
                  <a:extLst>
                    <a:ext uri="{9D8B030D-6E8A-4147-A177-3AD203B41FA5}">
                      <a16:colId xmlns:a16="http://schemas.microsoft.com/office/drawing/2014/main" val="1097692092"/>
                    </a:ext>
                  </a:extLst>
                </a:gridCol>
                <a:gridCol w="1914277">
                  <a:extLst>
                    <a:ext uri="{9D8B030D-6E8A-4147-A177-3AD203B41FA5}">
                      <a16:colId xmlns:a16="http://schemas.microsoft.com/office/drawing/2014/main" val="3760306288"/>
                    </a:ext>
                  </a:extLst>
                </a:gridCol>
              </a:tblGrid>
              <a:tr h="40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Reservation_ID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369577"/>
                  </a:ext>
                </a:extLst>
              </a:tr>
              <a:tr h="40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228426"/>
                  </a:ext>
                </a:extLst>
              </a:tr>
              <a:tr h="40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272640"/>
                  </a:ext>
                </a:extLst>
              </a:tr>
              <a:tr h="40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102296"/>
                  </a:ext>
                </a:extLst>
              </a:tr>
              <a:tr h="40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Cancelled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41721"/>
                  </a:ext>
                </a:extLst>
              </a:tr>
              <a:tr h="406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Confirmed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4215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5D4D1DA2-5E02-BBA9-12D3-903C6297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47"/>
            <a:ext cx="2298391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08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0046-625E-CCC9-C474-F02ECC9BA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F92EC-8FB5-6304-8613-8FFFC6705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8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AFTER — 1NF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332B22-1A28-CC4C-3283-0135E5A55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847529"/>
              </p:ext>
            </p:extLst>
          </p:nvPr>
        </p:nvGraphicFramePr>
        <p:xfrm>
          <a:off x="838200" y="1808994"/>
          <a:ext cx="6486495" cy="2643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65">
                  <a:extLst>
                    <a:ext uri="{9D8B030D-6E8A-4147-A177-3AD203B41FA5}">
                      <a16:colId xmlns:a16="http://schemas.microsoft.com/office/drawing/2014/main" val="3659863272"/>
                    </a:ext>
                  </a:extLst>
                </a:gridCol>
                <a:gridCol w="2162165">
                  <a:extLst>
                    <a:ext uri="{9D8B030D-6E8A-4147-A177-3AD203B41FA5}">
                      <a16:colId xmlns:a16="http://schemas.microsoft.com/office/drawing/2014/main" val="3550297858"/>
                    </a:ext>
                  </a:extLst>
                </a:gridCol>
                <a:gridCol w="2162165">
                  <a:extLst>
                    <a:ext uri="{9D8B030D-6E8A-4147-A177-3AD203B41FA5}">
                      <a16:colId xmlns:a16="http://schemas.microsoft.com/office/drawing/2014/main" val="1522308829"/>
                    </a:ext>
                  </a:extLst>
                </a:gridCol>
              </a:tblGrid>
              <a:tr h="440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042775"/>
                  </a:ext>
                </a:extLst>
              </a:tr>
              <a:tr h="440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62710"/>
                  </a:ext>
                </a:extLst>
              </a:tr>
              <a:tr h="440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057103"/>
                  </a:ext>
                </a:extLst>
              </a:tr>
              <a:tr h="440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423485"/>
                  </a:ext>
                </a:extLst>
              </a:tr>
              <a:tr h="440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7688380"/>
                  </a:ext>
                </a:extLst>
              </a:tr>
              <a:tr h="4406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9876543214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19443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3122953-A897-CB0B-7366-D9611F381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47"/>
            <a:ext cx="2298391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71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6DD5-9136-4E35-EFC9-5C651A35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4906-E47E-5420-3E2F-CBFBE199A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222" y="943029"/>
            <a:ext cx="10515600" cy="5195377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Second Normal Form</a:t>
            </a:r>
          </a:p>
          <a:p>
            <a:r>
              <a:rPr lang="en-US" sz="1800" dirty="0"/>
              <a:t>2NF — BEFORE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C51FAD-7FE4-13B6-3DFD-38ED1DA2C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391727"/>
              </p:ext>
            </p:extLst>
          </p:nvPr>
        </p:nvGraphicFramePr>
        <p:xfrm>
          <a:off x="902913" y="1991874"/>
          <a:ext cx="5193087" cy="335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029">
                  <a:extLst>
                    <a:ext uri="{9D8B030D-6E8A-4147-A177-3AD203B41FA5}">
                      <a16:colId xmlns:a16="http://schemas.microsoft.com/office/drawing/2014/main" val="3408715255"/>
                    </a:ext>
                  </a:extLst>
                </a:gridCol>
                <a:gridCol w="1731029">
                  <a:extLst>
                    <a:ext uri="{9D8B030D-6E8A-4147-A177-3AD203B41FA5}">
                      <a16:colId xmlns:a16="http://schemas.microsoft.com/office/drawing/2014/main" val="3959460787"/>
                    </a:ext>
                  </a:extLst>
                </a:gridCol>
                <a:gridCol w="1731029">
                  <a:extLst>
                    <a:ext uri="{9D8B030D-6E8A-4147-A177-3AD203B41FA5}">
                      <a16:colId xmlns:a16="http://schemas.microsoft.com/office/drawing/2014/main" val="1053661976"/>
                    </a:ext>
                  </a:extLst>
                </a:gridCol>
              </a:tblGrid>
              <a:tr h="54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Reservation_ID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684943"/>
                  </a:ext>
                </a:extLst>
              </a:tr>
              <a:tr h="54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848751"/>
                  </a:ext>
                </a:extLst>
              </a:tr>
              <a:tr h="54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3826401"/>
                  </a:ext>
                </a:extLst>
              </a:tr>
              <a:tr h="54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2613087"/>
                  </a:ext>
                </a:extLst>
              </a:tr>
              <a:tr h="54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77049"/>
                  </a:ext>
                </a:extLst>
              </a:tr>
              <a:tr h="542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33475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BD3DF86-1006-F649-8C87-F9D49975F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3AB70B-AFE2-BB70-391A-94B7AA28542D}"/>
              </a:ext>
            </a:extLst>
          </p:cNvPr>
          <p:cNvSpPr txBox="1"/>
          <p:nvPr/>
        </p:nvSpPr>
        <p:spPr>
          <a:xfrm>
            <a:off x="838200" y="5422790"/>
            <a:ext cx="8303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PK = (</a:t>
            </a:r>
            <a:r>
              <a:rPr lang="en-US" dirty="0" err="1"/>
              <a:t>Reservation_ID</a:t>
            </a:r>
            <a:r>
              <a:rPr lang="en-US" dirty="0"/>
              <a:t>, </a:t>
            </a:r>
            <a:r>
              <a:rPr lang="en-US" dirty="0" err="1"/>
              <a:t>Room_ID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Room type depends only on </a:t>
            </a:r>
            <a:r>
              <a:rPr lang="en-US" dirty="0" err="1">
                <a:latin typeface="+mn-lt"/>
              </a:rPr>
              <a:t>Room_ID</a:t>
            </a:r>
            <a:r>
              <a:rPr lang="en-US" dirty="0"/>
              <a:t>, so partial dependency exists.</a:t>
            </a:r>
          </a:p>
        </p:txBody>
      </p:sp>
    </p:spTree>
    <p:extLst>
      <p:ext uri="{BB962C8B-B14F-4D97-AF65-F5344CB8AC3E}">
        <p14:creationId xmlns:p14="http://schemas.microsoft.com/office/powerpoint/2010/main" val="3640646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A700-0854-324A-0550-848F8D96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14" y="1010416"/>
            <a:ext cx="10515600" cy="1325563"/>
          </a:xfrm>
        </p:spPr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C776F-AC2F-788D-3222-A6A7B103B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0160"/>
            <a:ext cx="5181600" cy="4896803"/>
          </a:xfrm>
        </p:spPr>
        <p:txBody>
          <a:bodyPr>
            <a:normAutofit/>
          </a:bodyPr>
          <a:lstStyle/>
          <a:p>
            <a:r>
              <a:rPr lang="en-US" sz="2400" dirty="0"/>
              <a:t>AFTER — 2NF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57379EA-B76B-0DD5-FDC8-8BDB4B8B56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9762950"/>
              </p:ext>
            </p:extLst>
          </p:nvPr>
        </p:nvGraphicFramePr>
        <p:xfrm>
          <a:off x="914400" y="2167531"/>
          <a:ext cx="3880236" cy="322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412">
                  <a:extLst>
                    <a:ext uri="{9D8B030D-6E8A-4147-A177-3AD203B41FA5}">
                      <a16:colId xmlns:a16="http://schemas.microsoft.com/office/drawing/2014/main" val="814796718"/>
                    </a:ext>
                  </a:extLst>
                </a:gridCol>
                <a:gridCol w="1293412">
                  <a:extLst>
                    <a:ext uri="{9D8B030D-6E8A-4147-A177-3AD203B41FA5}">
                      <a16:colId xmlns:a16="http://schemas.microsoft.com/office/drawing/2014/main" val="3295037013"/>
                    </a:ext>
                  </a:extLst>
                </a:gridCol>
                <a:gridCol w="1293412">
                  <a:extLst>
                    <a:ext uri="{9D8B030D-6E8A-4147-A177-3AD203B41FA5}">
                      <a16:colId xmlns:a16="http://schemas.microsoft.com/office/drawing/2014/main" val="303354208"/>
                    </a:ext>
                  </a:extLst>
                </a:gridCol>
              </a:tblGrid>
              <a:tr h="51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Reservation_ID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997550"/>
                  </a:ext>
                </a:extLst>
              </a:tr>
              <a:tr h="51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310184"/>
                  </a:ext>
                </a:extLst>
              </a:tr>
              <a:tr h="51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294388"/>
                  </a:ext>
                </a:extLst>
              </a:tr>
              <a:tr h="51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4635282"/>
                  </a:ext>
                </a:extLst>
              </a:tr>
              <a:tr h="51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672323"/>
                  </a:ext>
                </a:extLst>
              </a:tr>
              <a:tr h="5173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328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DE6609-EDD4-73BE-6D86-D9B2EE970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26715"/>
              </p:ext>
            </p:extLst>
          </p:nvPr>
        </p:nvGraphicFramePr>
        <p:xfrm>
          <a:off x="5772647" y="2167530"/>
          <a:ext cx="4166484" cy="3329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828">
                  <a:extLst>
                    <a:ext uri="{9D8B030D-6E8A-4147-A177-3AD203B41FA5}">
                      <a16:colId xmlns:a16="http://schemas.microsoft.com/office/drawing/2014/main" val="2294255680"/>
                    </a:ext>
                  </a:extLst>
                </a:gridCol>
                <a:gridCol w="1388828">
                  <a:extLst>
                    <a:ext uri="{9D8B030D-6E8A-4147-A177-3AD203B41FA5}">
                      <a16:colId xmlns:a16="http://schemas.microsoft.com/office/drawing/2014/main" val="1349908826"/>
                    </a:ext>
                  </a:extLst>
                </a:gridCol>
                <a:gridCol w="1388828">
                  <a:extLst>
                    <a:ext uri="{9D8B030D-6E8A-4147-A177-3AD203B41FA5}">
                      <a16:colId xmlns:a16="http://schemas.microsoft.com/office/drawing/2014/main" val="3986608486"/>
                    </a:ext>
                  </a:extLst>
                </a:gridCol>
              </a:tblGrid>
              <a:tr h="537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Room_ID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Room_Number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012069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28102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59962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Deluxe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391227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51264"/>
                  </a:ext>
                </a:extLst>
              </a:tr>
              <a:tr h="537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Double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58387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3BDEAFED-CF50-E869-4E1F-20944F80C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929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9CB6BC-DF36-26E9-A774-CCF89315B150}"/>
              </a:ext>
            </a:extLst>
          </p:cNvPr>
          <p:cNvSpPr txBox="1"/>
          <p:nvPr/>
        </p:nvSpPr>
        <p:spPr>
          <a:xfrm>
            <a:off x="838200" y="5847584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Partial dependency is eliminated.</a:t>
            </a:r>
          </a:p>
        </p:txBody>
      </p:sp>
    </p:spTree>
    <p:extLst>
      <p:ext uri="{BB962C8B-B14F-4D97-AF65-F5344CB8AC3E}">
        <p14:creationId xmlns:p14="http://schemas.microsoft.com/office/powerpoint/2010/main" val="1992542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BF5D-BE08-7633-6AE5-497D7CA0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EFE27-1CE9-6CFB-2FB3-A98FB2524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1" y="839663"/>
            <a:ext cx="10515600" cy="5322597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Third Normal Form</a:t>
            </a:r>
          </a:p>
          <a:p>
            <a:r>
              <a:rPr lang="en-US" sz="1800" dirty="0"/>
              <a:t>3NF — BEFORE</a:t>
            </a:r>
          </a:p>
          <a:p>
            <a:r>
              <a:rPr lang="en-US" sz="1800" dirty="0"/>
              <a:t>RESERVATION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A573ED-63F8-8731-697F-8466B1431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21340"/>
              </p:ext>
            </p:extLst>
          </p:nvPr>
        </p:nvGraphicFramePr>
        <p:xfrm>
          <a:off x="938254" y="2304515"/>
          <a:ext cx="8100610" cy="3132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122">
                  <a:extLst>
                    <a:ext uri="{9D8B030D-6E8A-4147-A177-3AD203B41FA5}">
                      <a16:colId xmlns:a16="http://schemas.microsoft.com/office/drawing/2014/main" val="2093007882"/>
                    </a:ext>
                  </a:extLst>
                </a:gridCol>
                <a:gridCol w="1620122">
                  <a:extLst>
                    <a:ext uri="{9D8B030D-6E8A-4147-A177-3AD203B41FA5}">
                      <a16:colId xmlns:a16="http://schemas.microsoft.com/office/drawing/2014/main" val="2082273845"/>
                    </a:ext>
                  </a:extLst>
                </a:gridCol>
                <a:gridCol w="1620122">
                  <a:extLst>
                    <a:ext uri="{9D8B030D-6E8A-4147-A177-3AD203B41FA5}">
                      <a16:colId xmlns:a16="http://schemas.microsoft.com/office/drawing/2014/main" val="3378940585"/>
                    </a:ext>
                  </a:extLst>
                </a:gridCol>
                <a:gridCol w="1620122">
                  <a:extLst>
                    <a:ext uri="{9D8B030D-6E8A-4147-A177-3AD203B41FA5}">
                      <a16:colId xmlns:a16="http://schemas.microsoft.com/office/drawing/2014/main" val="2996020823"/>
                    </a:ext>
                  </a:extLst>
                </a:gridCol>
                <a:gridCol w="1620122">
                  <a:extLst>
                    <a:ext uri="{9D8B030D-6E8A-4147-A177-3AD203B41FA5}">
                      <a16:colId xmlns:a16="http://schemas.microsoft.com/office/drawing/2014/main" val="7199289"/>
                    </a:ext>
                  </a:extLst>
                </a:gridCol>
              </a:tblGrid>
              <a:tr h="49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Reservation_ID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Room_Number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11093"/>
                  </a:ext>
                </a:extLst>
              </a:tr>
              <a:tr h="49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411175"/>
                  </a:ext>
                </a:extLst>
              </a:tr>
              <a:tr h="49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758229"/>
                  </a:ext>
                </a:extLst>
              </a:tr>
              <a:tr h="49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527825"/>
                  </a:ext>
                </a:extLst>
              </a:tr>
              <a:tr h="49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893929"/>
                  </a:ext>
                </a:extLst>
              </a:tr>
              <a:tr h="498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1367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37BCB0-7CEA-069A-FFC3-D928CA8F4166}"/>
              </a:ext>
            </a:extLst>
          </p:cNvPr>
          <p:cNvSpPr txBox="1"/>
          <p:nvPr/>
        </p:nvSpPr>
        <p:spPr>
          <a:xfrm>
            <a:off x="1019755" y="5657671"/>
            <a:ext cx="6094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>
                <a:latin typeface="+mn-lt"/>
              </a:rPr>
              <a:t>Reservation_ID</a:t>
            </a:r>
            <a:r>
              <a:rPr lang="en-US" dirty="0">
                <a:latin typeface="+mn-lt"/>
              </a:rPr>
              <a:t> → </a:t>
            </a:r>
            <a:r>
              <a:rPr lang="en-US" dirty="0" err="1">
                <a:latin typeface="+mn-lt"/>
              </a:rPr>
              <a:t>Customer_ID</a:t>
            </a:r>
            <a:r>
              <a:rPr lang="en-US" dirty="0">
                <a:latin typeface="+mn-lt"/>
              </a:rPr>
              <a:t> → </a:t>
            </a:r>
            <a:r>
              <a:rPr lang="en-US" dirty="0" err="1">
                <a:latin typeface="+mn-lt"/>
              </a:rPr>
              <a:t>Customer_Name</a:t>
            </a:r>
            <a:endParaRPr lang="en-US" dirty="0"/>
          </a:p>
          <a:p>
            <a:pPr>
              <a:buNone/>
            </a:pPr>
            <a:r>
              <a:rPr lang="en-US" dirty="0" err="1">
                <a:latin typeface="+mn-lt"/>
              </a:rPr>
              <a:t>Reservation_ID</a:t>
            </a:r>
            <a:r>
              <a:rPr lang="en-US" dirty="0">
                <a:latin typeface="+mn-lt"/>
              </a:rPr>
              <a:t> → </a:t>
            </a:r>
            <a:r>
              <a:rPr lang="en-US" dirty="0" err="1">
                <a:latin typeface="+mn-lt"/>
              </a:rPr>
              <a:t>Room_ID</a:t>
            </a:r>
            <a:r>
              <a:rPr lang="en-US" dirty="0">
                <a:latin typeface="+mn-lt"/>
              </a:rPr>
              <a:t> → </a:t>
            </a:r>
            <a:r>
              <a:rPr lang="en-US" dirty="0" err="1">
                <a:latin typeface="+mn-lt"/>
              </a:rPr>
              <a:t>Room_Number</a:t>
            </a:r>
            <a:endParaRPr lang="en-US" dirty="0"/>
          </a:p>
          <a:p>
            <a:pPr>
              <a:buNone/>
            </a:pPr>
            <a:r>
              <a:rPr lang="en-US" dirty="0"/>
              <a:t>Transitive dependency exists.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3BB37-80B0-B4F3-D08E-D0F753F1B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82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656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4140-3204-0EAA-1F6A-1E407660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F6FB-8A0E-C1B3-FABB-33A3E4F57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346" y="966884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AFTER — 3NF</a:t>
            </a:r>
          </a:p>
          <a:p>
            <a:r>
              <a:rPr lang="en-US" sz="1800" dirty="0"/>
              <a:t>RESERVATION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24EDE9-08B5-4465-9857-015F7FC9A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902460"/>
              </p:ext>
            </p:extLst>
          </p:nvPr>
        </p:nvGraphicFramePr>
        <p:xfrm>
          <a:off x="838200" y="1987826"/>
          <a:ext cx="5141181" cy="2973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194">
                  <a:extLst>
                    <a:ext uri="{9D8B030D-6E8A-4147-A177-3AD203B41FA5}">
                      <a16:colId xmlns:a16="http://schemas.microsoft.com/office/drawing/2014/main" val="846437250"/>
                    </a:ext>
                  </a:extLst>
                </a:gridCol>
                <a:gridCol w="1756301">
                  <a:extLst>
                    <a:ext uri="{9D8B030D-6E8A-4147-A177-3AD203B41FA5}">
                      <a16:colId xmlns:a16="http://schemas.microsoft.com/office/drawing/2014/main" val="2657568220"/>
                    </a:ext>
                  </a:extLst>
                </a:gridCol>
                <a:gridCol w="1752686">
                  <a:extLst>
                    <a:ext uri="{9D8B030D-6E8A-4147-A177-3AD203B41FA5}">
                      <a16:colId xmlns:a16="http://schemas.microsoft.com/office/drawing/2014/main" val="1088422733"/>
                    </a:ext>
                  </a:extLst>
                </a:gridCol>
              </a:tblGrid>
              <a:tr h="729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Reservation_ID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Room_ID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771206"/>
                  </a:ext>
                </a:extLst>
              </a:tr>
              <a:tr h="448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810155"/>
                  </a:ext>
                </a:extLst>
              </a:tr>
              <a:tr h="448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908951"/>
                  </a:ext>
                </a:extLst>
              </a:tr>
              <a:tr h="448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704211"/>
                  </a:ext>
                </a:extLst>
              </a:tr>
              <a:tr h="448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RM04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372247"/>
                  </a:ext>
                </a:extLst>
              </a:tr>
              <a:tr h="448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0468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FA34C7C-0789-2A51-3190-21248C367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10886"/>
            <a:ext cx="2293819" cy="828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5C27E1-B2BB-A9AE-97B2-9D926AB39C18}"/>
              </a:ext>
            </a:extLst>
          </p:cNvPr>
          <p:cNvSpPr txBox="1"/>
          <p:nvPr/>
        </p:nvSpPr>
        <p:spPr>
          <a:xfrm>
            <a:off x="7521932" y="1355112"/>
            <a:ext cx="2025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9EA794-AB0A-035A-D2F8-72C9C84C8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080816"/>
              </p:ext>
            </p:extLst>
          </p:nvPr>
        </p:nvGraphicFramePr>
        <p:xfrm>
          <a:off x="6742706" y="1987826"/>
          <a:ext cx="4611093" cy="3118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031">
                  <a:extLst>
                    <a:ext uri="{9D8B030D-6E8A-4147-A177-3AD203B41FA5}">
                      <a16:colId xmlns:a16="http://schemas.microsoft.com/office/drawing/2014/main" val="2100909010"/>
                    </a:ext>
                  </a:extLst>
                </a:gridCol>
                <a:gridCol w="1537031">
                  <a:extLst>
                    <a:ext uri="{9D8B030D-6E8A-4147-A177-3AD203B41FA5}">
                      <a16:colId xmlns:a16="http://schemas.microsoft.com/office/drawing/2014/main" val="4089830886"/>
                    </a:ext>
                  </a:extLst>
                </a:gridCol>
                <a:gridCol w="1537031">
                  <a:extLst>
                    <a:ext uri="{9D8B030D-6E8A-4147-A177-3AD203B41FA5}">
                      <a16:colId xmlns:a16="http://schemas.microsoft.com/office/drawing/2014/main" val="997217905"/>
                    </a:ext>
                  </a:extLst>
                </a:gridCol>
              </a:tblGrid>
              <a:tr h="495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Phone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249764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548524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Priya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222524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Kiran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492191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9876543213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916362"/>
                  </a:ext>
                </a:extLst>
              </a:tr>
              <a:tr h="495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9876543214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943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0126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11994-C6A2-E0FA-AFFE-166996E8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85232-AACE-0E77-5377-8EB00935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/>
              <a:t>Conclusion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8C1418D-4C8C-A6DB-ED09-C12B73709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77441"/>
            <a:ext cx="8074815" cy="3392424"/>
          </a:xfrm>
        </p:spPr>
        <p:txBody>
          <a:bodyPr anchor="t">
            <a:normAutofit fontScale="925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The Hotel Reservation Management System database was successfully designed.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Required entities, attributes, and relationships were identified.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Tables were created using primary keys, foreign keys, and constraints.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Sample records were inserted and verified using SQL queries.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Basic SQL queries were executed to retrieve useful information.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Database normalization was studied up to 3NF.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Normalization helps reduce data redundancy and maintain data consistency.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The system provides an organized database structure for customers, hotels, rooms, reservations, payments, and staff.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B1F00-DCA4-8C10-FF77-030F7115E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65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5B29-7E43-951B-D906-7557C91D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3257" y="1343135"/>
            <a:ext cx="5406888" cy="4000141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tx2">
                    <a:lumMod val="75000"/>
                    <a:lumOff val="25000"/>
                  </a:schemeClr>
                </a:solidFill>
                <a:latin typeface="Algerian" panose="04020705040A02060702" pitchFamily="82" charset="0"/>
              </a:rPr>
              <a:t>Thank You              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3C594-7ADD-C423-6FC9-D8C4BC477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9381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1517</Words>
  <Application>Microsoft Office PowerPoint</Application>
  <PresentationFormat>Widescreen</PresentationFormat>
  <Paragraphs>406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Algerian</vt:lpstr>
      <vt:lpstr>Aptos</vt:lpstr>
      <vt:lpstr>Aptos Display</vt:lpstr>
      <vt:lpstr>Arial</vt:lpstr>
      <vt:lpstr>Times New Roman</vt:lpstr>
      <vt:lpstr>Wingdings</vt:lpstr>
      <vt:lpstr>Office Theme</vt:lpstr>
      <vt:lpstr>Hotel Reservation Management System</vt:lpstr>
      <vt:lpstr>Introduction</vt:lpstr>
      <vt:lpstr>                         Problem Statement</vt:lpstr>
      <vt:lpstr>Objectives</vt:lpstr>
      <vt:lpstr>Functional Requirements</vt:lpstr>
      <vt:lpstr>Non-Functional Requirements</vt:lpstr>
      <vt:lpstr>End Users Of The System</vt:lpstr>
      <vt:lpstr>Attributes And Entities</vt:lpstr>
      <vt:lpstr>PowerPoint Presentation</vt:lpstr>
      <vt:lpstr>PowerPoint Presentation</vt:lpstr>
      <vt:lpstr>PowerPoint Presentation</vt:lpstr>
      <vt:lpstr>              SQL Creation</vt:lpstr>
      <vt:lpstr>PowerPoint Presentation</vt:lpstr>
      <vt:lpstr>PowerPoint Presentation</vt:lpstr>
      <vt:lpstr>PowerPoint Presentation</vt:lpstr>
      <vt:lpstr>PowerPoint Presentation</vt:lpstr>
      <vt:lpstr>Sample Records</vt:lpstr>
      <vt:lpstr>.</vt:lpstr>
      <vt:lpstr>.</vt:lpstr>
      <vt:lpstr>Basic Queries and Outputs</vt:lpstr>
      <vt:lpstr>.</vt:lpstr>
      <vt:lpstr>.</vt:lpstr>
      <vt:lpstr>.</vt:lpstr>
      <vt:lpstr>.</vt:lpstr>
      <vt:lpstr>.</vt:lpstr>
      <vt:lpstr>.</vt:lpstr>
      <vt:lpstr>Normalisation</vt:lpstr>
      <vt:lpstr>.</vt:lpstr>
      <vt:lpstr>.</vt:lpstr>
      <vt:lpstr>.</vt:lpstr>
      <vt:lpstr>.</vt:lpstr>
      <vt:lpstr>.</vt:lpstr>
      <vt:lpstr>.</vt:lpstr>
      <vt:lpstr>Conclusion</vt:lpstr>
      <vt:lpstr>Thank You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25B11CS804</dc:creator>
  <cp:lastModifiedBy>25B11CS804</cp:lastModifiedBy>
  <cp:revision>20</cp:revision>
  <dcterms:created xsi:type="dcterms:W3CDTF">2026-08-11T11:51:14Z</dcterms:created>
  <dcterms:modified xsi:type="dcterms:W3CDTF">2026-10-05T04:57:00Z</dcterms:modified>
</cp:coreProperties>
</file>